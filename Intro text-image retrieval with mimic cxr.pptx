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66" r:id="rId4"/>
    <p:sldId id="257" r:id="rId5"/>
    <p:sldId id="258" r:id="rId6"/>
    <p:sldId id="259" r:id="rId7"/>
    <p:sldId id="271" r:id="rId8"/>
    <p:sldId id="272" r:id="rId9"/>
    <p:sldId id="267" r:id="rId10"/>
    <p:sldId id="260" r:id="rId11"/>
    <p:sldId id="262" r:id="rId12"/>
    <p:sldId id="263" r:id="rId13"/>
    <p:sldId id="264" r:id="rId14"/>
    <p:sldId id="265" r:id="rId15"/>
    <p:sldId id="268" r:id="rId16"/>
    <p:sldId id="270" r:id="rId17"/>
    <p:sldId id="269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7" autoAdjust="0"/>
    <p:restoredTop sz="93725" autoAdjust="0"/>
  </p:normalViewPr>
  <p:slideViewPr>
    <p:cSldViewPr snapToGrid="0">
      <p:cViewPr varScale="1">
        <p:scale>
          <a:sx n="66" d="100"/>
          <a:sy n="66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C2A38-6C1B-4947-919D-917538084D22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7CCB8-5B73-4D62-9B08-06FF92083A0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588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Triplets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7CCB8-5B73-4D62-9B08-06FF92083A06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2627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7CCB8-5B73-4D62-9B08-06FF92083A06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467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5127D-CD8F-3A7A-4A2B-722CBFAD0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EB51A-0DCE-039E-532B-2B9808066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6D50A-BAB6-DF3E-FD3B-155510E3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3BC33-4F15-6040-F0CC-338A68DC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97A07-F2A2-F045-FE79-322B76D4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3657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86CB-03CE-9C7E-704A-2531529A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35E6B-E718-09BE-CB55-3C5FDD332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33445-2FFA-8716-92C8-630D42AB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78E1F-3E86-98E0-C89D-5D0FD5EA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0B622-4D8F-EF53-1F86-9C0E5042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402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8DED-483B-BF76-71B7-4F9957DE9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8305E-562D-1B9D-77EC-27DEDE578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070A7-B11C-3A02-DE7E-0C308D42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17A44-0D59-8A69-6963-EBB42CD1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CC9F-5EF0-A076-D153-84BA4E67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179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AB31-A481-AE97-13A6-B37DB443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0C5-280B-613B-0CDE-C15022E7B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FD090-4BC9-FEC7-B7AD-441496B7D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F2447-11CE-2F8F-2116-F42C5520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B998C-8F89-E7D2-CCC2-A6308732C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891EB-792B-8E0C-AB1B-0EC2DC9F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000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724F-F473-EF50-270C-F5E815B2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7326D-1D25-50D6-BA6F-781744E05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ACD69-4D36-2005-1F61-392BB79B9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BD715-1C5E-D940-B596-3D13C585A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F2C52-3EC4-54FA-397F-A181EF614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0FBA9-BEBE-6FAB-6B21-DD761795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F7ED0-2105-EE62-488A-1FF47094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8519C-0496-0655-AB05-82C77BF1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085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97D4-C5BC-2601-DBAF-FA53E1D4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5648A-C513-6B16-CA1D-D99930A4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FA6FE-C27F-106E-AD24-4B007ACE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FCEFC-65AF-AFEC-B96A-38D46697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742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2D938-9C9C-946E-4222-499BD308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EB456-2FE2-0AFD-7CA4-25C53678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428B7-8DB3-7D4C-3E89-76DBA04B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2290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D17B-24FB-E603-0C7B-172F732F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EA916-5DB3-2A34-405E-553BB1244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BAB8D-526F-CD21-085A-68ADE50E1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269DB-3796-B523-DC90-FF2F09AA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421A1-3415-E5DC-DFE3-E6E50605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3E1D5-ACC3-5262-E96D-91323C7B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375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8192-0C86-5E53-EA07-52A25613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0528AD-25D2-A4FA-F3F0-1DEBA4C74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6EDA7-EEE7-F97B-55AE-056C6E153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939FB-B04D-F0EA-1B10-5640EFA7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0CB28-F325-E2BC-95C8-81E2A456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C3D01-89B7-E8FA-2970-1EC4E595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890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EF90-C098-3237-8E76-C9399473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29251-3CA4-FB73-B750-41FB695BA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F13B9-9F5D-CC6C-6358-671D8787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2CE4-726A-06B7-E4BC-F837105A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4145-2642-E812-D3BD-BF5A2785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274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10202-2630-AA32-45A6-14984D276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1511E-42B2-867D-588B-E53B7E30B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737F5-4EA1-C00A-AC24-C93B169B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1A83B-E120-7042-D70B-32DD4AD3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15314-201B-1DB6-E71D-4573BA69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852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C8BC1-7E82-CAAA-7C40-E704808E8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46CE2-48B8-F4FB-13A2-14747700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E574-2D26-DCD4-8E78-178895A92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52297-2597-4A00-BC82-12727A0CEBFC}" type="datetimeFigureOut">
              <a:rPr lang="en-IL" smtClean="0"/>
              <a:t>16/05/2026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F0036-8133-43B0-449C-39584541B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6730B-6772-901E-4BBB-6F0E8BB33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2A9EE-77A7-4E2C-BC3A-5832694EAB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884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E08D-B596-8E18-F4BA-6EEC344E6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text-image retrieval with mimic </a:t>
            </a:r>
            <a:r>
              <a:rPr lang="en-US" dirty="0" err="1"/>
              <a:t>cxr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0358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EE79-5AC9-9094-6207-235CBC96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/ idea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46FF1-3E14-1F37-B833-1DFA85B2B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benchmark for free-text retrieval over large, unlabeled medical image datasets. Users query natural language descriptions, e.g., </a:t>
            </a:r>
            <a:r>
              <a:rPr lang="en-US" i="1" dirty="0"/>
              <a:t>"chest X-ray with pneumonia"</a:t>
            </a:r>
            <a:r>
              <a:rPr lang="en-US" dirty="0"/>
              <a:t> or </a:t>
            </a:r>
            <a:r>
              <a:rPr lang="en-US" i="1" dirty="0"/>
              <a:t>"edema and pleural effusion"</a:t>
            </a:r>
            <a:r>
              <a:rPr lang="en-US" dirty="0"/>
              <a:t> - and the system retrieves the most relevant images.</a:t>
            </a:r>
          </a:p>
          <a:p>
            <a:r>
              <a:rPr lang="en-US" dirty="0"/>
              <a:t>This addresses a real bottleneck: medical imaging datasets are often massive and unannotated, making it hard to locate specific findings without expensive manual labeling.</a:t>
            </a:r>
          </a:p>
        </p:txBody>
      </p:sp>
    </p:spTree>
    <p:extLst>
      <p:ext uri="{BB962C8B-B14F-4D97-AF65-F5344CB8AC3E}">
        <p14:creationId xmlns:p14="http://schemas.microsoft.com/office/powerpoint/2010/main" val="140520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8B4F-7338-ADB7-89A4-33D2283C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928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0: </a:t>
            </a:r>
            <a:br>
              <a:rPr lang="en-US" dirty="0"/>
            </a:br>
            <a:r>
              <a:rPr lang="en-US" dirty="0"/>
              <a:t>EDA</a:t>
            </a:r>
            <a:br>
              <a:rPr lang="en-IL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2677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0477-8A69-68A7-4A08-FB3264ED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81" y="189112"/>
            <a:ext cx="5631180" cy="666951"/>
          </a:xfrm>
        </p:spPr>
        <p:txBody>
          <a:bodyPr>
            <a:normAutofit fontScale="90000"/>
          </a:bodyPr>
          <a:lstStyle/>
          <a:p>
            <a:r>
              <a:rPr lang="en-US" dirty="0"/>
              <a:t>Our data – 360K examples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800AE-C4E0-B057-DD0D-DD98E3BBA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8" y="1121790"/>
            <a:ext cx="4787878" cy="242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E97C40-0871-FFBF-A488-2C62A89E9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47532"/>
            <a:ext cx="5631180" cy="2574996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FB50B35-28DE-43C6-25E4-60978ECE9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21225"/>
              </p:ext>
            </p:extLst>
          </p:nvPr>
        </p:nvGraphicFramePr>
        <p:xfrm>
          <a:off x="864627" y="3969019"/>
          <a:ext cx="9997443" cy="796144"/>
        </p:xfrm>
        <a:graphic>
          <a:graphicData uri="http://schemas.openxmlformats.org/drawingml/2006/table">
            <a:tbl>
              <a:tblPr/>
              <a:tblGrid>
                <a:gridCol w="583337">
                  <a:extLst>
                    <a:ext uri="{9D8B030D-6E8A-4147-A177-3AD203B41FA5}">
                      <a16:colId xmlns:a16="http://schemas.microsoft.com/office/drawing/2014/main" val="3887151002"/>
                    </a:ext>
                  </a:extLst>
                </a:gridCol>
                <a:gridCol w="729170">
                  <a:extLst>
                    <a:ext uri="{9D8B030D-6E8A-4147-A177-3AD203B41FA5}">
                      <a16:colId xmlns:a16="http://schemas.microsoft.com/office/drawing/2014/main" val="3501506379"/>
                    </a:ext>
                  </a:extLst>
                </a:gridCol>
                <a:gridCol w="742191">
                  <a:extLst>
                    <a:ext uri="{9D8B030D-6E8A-4147-A177-3AD203B41FA5}">
                      <a16:colId xmlns:a16="http://schemas.microsoft.com/office/drawing/2014/main" val="674333148"/>
                    </a:ext>
                  </a:extLst>
                </a:gridCol>
                <a:gridCol w="385419">
                  <a:extLst>
                    <a:ext uri="{9D8B030D-6E8A-4147-A177-3AD203B41FA5}">
                      <a16:colId xmlns:a16="http://schemas.microsoft.com/office/drawing/2014/main" val="944038858"/>
                    </a:ext>
                  </a:extLst>
                </a:gridCol>
                <a:gridCol w="1492194">
                  <a:extLst>
                    <a:ext uri="{9D8B030D-6E8A-4147-A177-3AD203B41FA5}">
                      <a16:colId xmlns:a16="http://schemas.microsoft.com/office/drawing/2014/main" val="4090687981"/>
                    </a:ext>
                  </a:extLst>
                </a:gridCol>
                <a:gridCol w="458335">
                  <a:extLst>
                    <a:ext uri="{9D8B030D-6E8A-4147-A177-3AD203B41FA5}">
                      <a16:colId xmlns:a16="http://schemas.microsoft.com/office/drawing/2014/main" val="571971257"/>
                    </a:ext>
                  </a:extLst>
                </a:gridCol>
                <a:gridCol w="617190">
                  <a:extLst>
                    <a:ext uri="{9D8B030D-6E8A-4147-A177-3AD203B41FA5}">
                      <a16:colId xmlns:a16="http://schemas.microsoft.com/office/drawing/2014/main" val="1227705434"/>
                    </a:ext>
                  </a:extLst>
                </a:gridCol>
                <a:gridCol w="677086">
                  <a:extLst>
                    <a:ext uri="{9D8B030D-6E8A-4147-A177-3AD203B41FA5}">
                      <a16:colId xmlns:a16="http://schemas.microsoft.com/office/drawing/2014/main" val="4248366342"/>
                    </a:ext>
                  </a:extLst>
                </a:gridCol>
                <a:gridCol w="583337">
                  <a:extLst>
                    <a:ext uri="{9D8B030D-6E8A-4147-A177-3AD203B41FA5}">
                      <a16:colId xmlns:a16="http://schemas.microsoft.com/office/drawing/2014/main" val="2312832336"/>
                    </a:ext>
                  </a:extLst>
                </a:gridCol>
                <a:gridCol w="822920">
                  <a:extLst>
                    <a:ext uri="{9D8B030D-6E8A-4147-A177-3AD203B41FA5}">
                      <a16:colId xmlns:a16="http://schemas.microsoft.com/office/drawing/2014/main" val="3207708791"/>
                    </a:ext>
                  </a:extLst>
                </a:gridCol>
                <a:gridCol w="687504">
                  <a:extLst>
                    <a:ext uri="{9D8B030D-6E8A-4147-A177-3AD203B41FA5}">
                      <a16:colId xmlns:a16="http://schemas.microsoft.com/office/drawing/2014/main" val="2458763444"/>
                    </a:ext>
                  </a:extLst>
                </a:gridCol>
                <a:gridCol w="614586">
                  <a:extLst>
                    <a:ext uri="{9D8B030D-6E8A-4147-A177-3AD203B41FA5}">
                      <a16:colId xmlns:a16="http://schemas.microsoft.com/office/drawing/2014/main" val="2602620102"/>
                    </a:ext>
                  </a:extLst>
                </a:gridCol>
                <a:gridCol w="770837">
                  <a:extLst>
                    <a:ext uri="{9D8B030D-6E8A-4147-A177-3AD203B41FA5}">
                      <a16:colId xmlns:a16="http://schemas.microsoft.com/office/drawing/2014/main" val="2830731409"/>
                    </a:ext>
                  </a:extLst>
                </a:gridCol>
                <a:gridCol w="833337">
                  <a:extLst>
                    <a:ext uri="{9D8B030D-6E8A-4147-A177-3AD203B41FA5}">
                      <a16:colId xmlns:a16="http://schemas.microsoft.com/office/drawing/2014/main" val="4093336999"/>
                    </a:ext>
                  </a:extLst>
                </a:gridCol>
              </a:tblGrid>
              <a:tr h="398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Atelectasis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Cardiomegaly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Consolidation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Edema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Enlarged Cardiomediastinum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Fracture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Lung Lesion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Lung Opacity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Finding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Pleural Effusion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Pleural Other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Pneumonia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Pneumothorax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Support Devices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82773"/>
                  </a:ext>
                </a:extLst>
              </a:tr>
              <a:tr h="3980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</a:t>
                      </a:r>
                      <a:endParaRPr lang="en-I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r>
                        <a:rPr lang="en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85943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FB420569-86BF-21F2-0ADB-6901FD25492F}"/>
              </a:ext>
            </a:extLst>
          </p:cNvPr>
          <p:cNvSpPr txBox="1"/>
          <p:nvPr/>
        </p:nvSpPr>
        <p:spPr>
          <a:xfrm>
            <a:off x="464819" y="5030890"/>
            <a:ext cx="10519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1: The label was </a:t>
            </a:r>
            <a:r>
              <a:rPr lang="en-US" b="1" dirty="0"/>
              <a:t>positively mentioned </a:t>
            </a:r>
            <a:r>
              <a:rPr lang="en-US" dirty="0"/>
              <a:t>in the associated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0: The label was </a:t>
            </a:r>
            <a:r>
              <a:rPr lang="en-US" b="1" dirty="0"/>
              <a:t>negatively mentioned </a:t>
            </a:r>
            <a:r>
              <a:rPr lang="en-US" dirty="0"/>
              <a:t>in the associated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-1: The label was either: mentioned with </a:t>
            </a:r>
            <a:r>
              <a:rPr lang="en-US" b="1" dirty="0"/>
              <a:t>uncertainty/ambiguous</a:t>
            </a:r>
            <a:r>
              <a:rPr lang="en-US" dirty="0"/>
              <a:t> language in the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Missing: the label was </a:t>
            </a:r>
            <a:r>
              <a:rPr lang="en-US" b="1" dirty="0"/>
              <a:t>not mentioned </a:t>
            </a:r>
            <a:r>
              <a:rPr lang="en-US" dirty="0"/>
              <a:t>in the report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2302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E2F1-EDD7-3EDC-A85B-6B57BE1E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Labeling quality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0881-394C-FBC6-9FED-63C8CE99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571"/>
            <a:ext cx="10515600" cy="4351338"/>
          </a:xfrm>
        </p:spPr>
        <p:txBody>
          <a:bodyPr/>
          <a:lstStyle/>
          <a:p>
            <a:r>
              <a:rPr lang="en-US" dirty="0"/>
              <a:t>A total of 687 reports were reviewed by a </a:t>
            </a:r>
            <a:r>
              <a:rPr lang="en-US" dirty="0" err="1"/>
              <a:t>radiologis</a:t>
            </a:r>
            <a:r>
              <a:rPr lang="en-US" dirty="0"/>
              <a:t> according to the 14 categories in </a:t>
            </a:r>
            <a:r>
              <a:rPr lang="en-US" dirty="0" err="1"/>
              <a:t>CheXpert</a:t>
            </a:r>
            <a:r>
              <a:rPr lang="en-US" dirty="0"/>
              <a:t>.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BD24D-5C45-97CB-CB76-0DEC4F2C2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733" y="3009363"/>
            <a:ext cx="7868748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4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1B2D-3710-29F0-F4FB-DD09FDF5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019473" cy="660111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stats: labels frequency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68A717-7C93-042D-4CC9-BD142AF9E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430"/>
          <a:stretch>
            <a:fillRect/>
          </a:stretch>
        </p:blipFill>
        <p:spPr>
          <a:xfrm>
            <a:off x="0" y="864607"/>
            <a:ext cx="5313404" cy="5813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4F1A4A-AAEF-C3AE-D7D8-45F7A1300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799" y="864607"/>
            <a:ext cx="6375310" cy="581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8E0B-134F-0CEF-BD57-73EFD4A1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distributions for </a:t>
            </a:r>
            <a:r>
              <a:rPr lang="en-US" dirty="0" err="1"/>
              <a:t>CheXpert</a:t>
            </a:r>
            <a:r>
              <a:rPr lang="en-US" dirty="0"/>
              <a:t> labels: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4F5560-C500-B03C-93E2-52517C891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00" y="1539581"/>
            <a:ext cx="11641399" cy="448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03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8129FE-B735-B978-F58D-A1AC4EDD7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242" y="462623"/>
            <a:ext cx="11181243" cy="582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0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B36D6-11E3-23C8-000C-14CC4877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42F7-3FC6-885C-F86F-A7059C44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928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1: </a:t>
            </a:r>
            <a:br>
              <a:rPr lang="en-US" dirty="0"/>
            </a:br>
            <a:r>
              <a:rPr lang="en-US" dirty="0"/>
              <a:t>baseline evaluations</a:t>
            </a:r>
            <a:br>
              <a:rPr lang="en-IL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4645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0BD5-462E-9D91-0AB1-897E6F30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71B8-EBD5-90FF-E70B-09FBCEB7C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P@K: of the top-k images the model retrieved, what fraction are actually relevant?</a:t>
            </a:r>
          </a:p>
          <a:p>
            <a:r>
              <a:rPr lang="en-US" dirty="0"/>
              <a:t>R@K: number of relevant retrieved items in top k / total number of relevant items in the dataset (Hard-capped at k/</a:t>
            </a:r>
            <a:r>
              <a:rPr lang="en-US" dirty="0" err="1"/>
              <a:t>n_relevant</a:t>
            </a:r>
            <a:r>
              <a:rPr lang="en-US" dirty="0"/>
              <a:t>).</a:t>
            </a:r>
          </a:p>
          <a:p>
            <a:r>
              <a:rPr lang="en-US" dirty="0"/>
              <a:t>Successful retrieval(per label): both the text and retrieved image have a shared categorical label.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40922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89ED-4027-0092-29C7-604F231A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F8B5-9983-F3D0-D1DE-3A56B126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Subset the dataset to size N (about </a:t>
            </a:r>
            <a:r>
              <a:rPr lang="he-IL" dirty="0"/>
              <a:t>5000</a:t>
            </a:r>
            <a:r>
              <a:rPr lang="en-US" dirty="0"/>
              <a:t> that was used to test in a reference model, from the original 377K).</a:t>
            </a:r>
          </a:p>
          <a:p>
            <a:r>
              <a:rPr lang="en-US" dirty="0"/>
              <a:t>Embed all images with a clip based model.</a:t>
            </a:r>
          </a:p>
          <a:p>
            <a:r>
              <a:rPr lang="en-US" dirty="0"/>
              <a:t>Build queries.</a:t>
            </a:r>
          </a:p>
          <a:p>
            <a:r>
              <a:rPr lang="en-US" dirty="0"/>
              <a:t>Embed queries and their categorical label.</a:t>
            </a:r>
          </a:p>
          <a:p>
            <a:r>
              <a:rPr lang="en-US" dirty="0"/>
              <a:t>Find closest items with cosine similarity. Evaluate with metrics (from the previous slide).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43552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A467-B559-AC14-CF56-FD14D547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average(across labels) </a:t>
            </a:r>
            <a:r>
              <a:rPr lang="en-US" dirty="0" err="1"/>
              <a:t>P@k</a:t>
            </a:r>
            <a:r>
              <a:rPr lang="en-US" dirty="0"/>
              <a:t>, </a:t>
            </a:r>
            <a:r>
              <a:rPr lang="en-US" dirty="0" err="1"/>
              <a:t>R@k</a:t>
            </a:r>
            <a:r>
              <a:rPr lang="en-US" dirty="0"/>
              <a:t> for different models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E31F3-9B7F-8FA4-F282-24558B8C2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128"/>
            <a:ext cx="12192000" cy="50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18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9FABF5-3299-B89E-5BE4-E59DFE326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15" y="103877"/>
            <a:ext cx="9360042" cy="33251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1CF992-80DA-4A4D-FC31-2692B5320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41" y="3429000"/>
            <a:ext cx="9483431" cy="341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2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DA757-57D8-6D12-4463-60DD2C945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07" y="187265"/>
            <a:ext cx="10755226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66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3FF8-102C-C7FC-D3D0-962978D1A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B6A7-97CB-C323-EB2B-A8F86296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928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2: </a:t>
            </a:r>
            <a:br>
              <a:rPr lang="en-US"/>
            </a:br>
            <a:r>
              <a:rPr lang="en-US"/>
              <a:t>training</a:t>
            </a:r>
            <a:br>
              <a:rPr lang="en-IL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11730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38AE-8A36-54D8-DD1A-8DF359FC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label: our fine tuned model slightly leads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3F1C8-4B1D-A392-C4C3-F13E4FC4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3" y="1887781"/>
            <a:ext cx="12192000" cy="436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86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5B01-F676-7EF2-1645-34D9750C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104"/>
            <a:ext cx="10515600" cy="1325563"/>
          </a:xfrm>
        </p:spPr>
        <p:txBody>
          <a:bodyPr/>
          <a:lstStyle/>
          <a:p>
            <a:r>
              <a:rPr lang="en-US" dirty="0"/>
              <a:t>Pair label: our fine tuned model slightly leads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BBB1E-FF85-54AE-8F95-5DA432CD1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667"/>
            <a:ext cx="1219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58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2786</TotalTime>
  <Words>388</Words>
  <Application>Microsoft Office PowerPoint</Application>
  <PresentationFormat>Widescreen</PresentationFormat>
  <Paragraphs>60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Office Theme</vt:lpstr>
      <vt:lpstr>Intro text-image retrieval with mimic cxr</vt:lpstr>
      <vt:lpstr>Goals / idea</vt:lpstr>
      <vt:lpstr>Phase 0:  EDA </vt:lpstr>
      <vt:lpstr>Our data – 360K examples</vt:lpstr>
      <vt:lpstr>Labeling quality</vt:lpstr>
      <vt:lpstr>Dataset stats: labels frequency</vt:lpstr>
      <vt:lpstr>Counting distributions for CheXpert labels:</vt:lpstr>
      <vt:lpstr>PowerPoint Presentation</vt:lpstr>
      <vt:lpstr>Phase 1:  baseline evaluations </vt:lpstr>
      <vt:lpstr>Metrics</vt:lpstr>
      <vt:lpstr>Pipeline</vt:lpstr>
      <vt:lpstr>Results: average(across labels) P@k, R@k for different models</vt:lpstr>
      <vt:lpstr>PowerPoint Presentation</vt:lpstr>
      <vt:lpstr>PowerPoint Presentation</vt:lpstr>
      <vt:lpstr>Phase 2:  training </vt:lpstr>
      <vt:lpstr>Single label: our fine tuned model slightly leads</vt:lpstr>
      <vt:lpstr>Pair label: our fine tuned model slightly leads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Tomer Erez</dc:creator>
  <cp:lastModifiedBy>Tomer Erez</cp:lastModifiedBy>
  <cp:revision>7</cp:revision>
  <dcterms:created xsi:type="dcterms:W3CDTF">2026-04-02T15:24:48Z</dcterms:created>
  <dcterms:modified xsi:type="dcterms:W3CDTF">2026-05-16T12:30:01Z</dcterms:modified>
</cp:coreProperties>
</file>